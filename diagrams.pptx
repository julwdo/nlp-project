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861" autoAdjust="0"/>
  </p:normalViewPr>
  <p:slideViewPr>
    <p:cSldViewPr snapToGrid="0" showGuides="1">
      <p:cViewPr varScale="1">
        <p:scale>
          <a:sx n="106" d="100"/>
          <a:sy n="106" d="100"/>
        </p:scale>
        <p:origin x="732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795E5C-84C4-2148-5C9D-92C67490B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126374D-4DD1-2DDF-5082-D9A271E81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D13719-67D3-0286-395D-AC6EDBDD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8DCD7F2-70D6-D97B-A0C5-DAACD740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19DA81F-EA01-DB64-97A6-7C97295F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20504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1FBAEF-0EBC-41E4-F31D-56697F00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44F1FF-8C87-D642-48D4-94C10F14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91860E-EE7B-4EAA-7C04-DC92A40F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75F5544-DFFE-E2DF-7275-FEF057EE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25D404-4AC2-0B41-008C-E0C951B4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644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432554-F864-64FA-B9CC-CA54EEF8D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27A2628-0421-822B-E510-4227271E7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8D0E75-A156-5469-73EF-55FBAE8F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6FE1440-B9EC-463C-4170-1E6D7A28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7CD749-713D-CE43-0577-1497A0CA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110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842EF-D595-3DDB-641A-DE72EEB9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FED8D7-5736-6E3A-9B25-4A01A0BC0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4B560BF-3FB0-D11D-7C55-C53503879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55C00F-66FA-DEDE-7CE8-077F8BF7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58C2B86-56FC-0413-411F-AA923A61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37EE598-8F2A-505E-EDAE-BFAADF9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916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D1E2AA-7350-F131-4C98-EDE7B52A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28C5053-FE90-4698-90C9-3BFA0B638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613FC7E-13AD-3EDC-A874-A483DDB38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9EC1B95-A19C-CA54-B2EA-FECEAA40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9C9426-0ABF-7B62-49D9-B40870C24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D6CB096-71D7-2AB8-57C1-F846CECB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5C1A55-50E5-B005-B122-692635D5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5E18FF7-772E-2092-664D-39B68527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41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02A93A-7924-BF7B-C16B-6DC5AE3F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1DA0FEA-43DC-10D1-2BAE-8A9F72EF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6973575-084D-FC23-8E02-9FF16616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32C3CD9-D11B-8E4C-E509-3339B29C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684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2451FDE-FE9E-6EF3-8D40-E3EF18BD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AEAE2FE-2991-D32E-F1E6-BBBC3F43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48BC14-A260-794B-9E2D-D28A4ABC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375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8B3EC1-3431-78AE-05F0-416F48C3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5BBAC2-12E1-6002-F5AB-CBD17424C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B6C7416-62CB-E6E2-47AB-727F2B97F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2CF130C-FE79-8616-197E-6F6037F9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E920D81-693C-EBBF-10BB-E77A883C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3CA9D8B-0F01-BD56-0141-36E1F063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055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AEF355-1B7A-F3D6-1D8D-D29452F7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B6B7E35-A8E1-868A-8DCB-76C244D76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88A9814-9005-C7FF-951D-C31A76A59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A561A96-4AEC-5037-7386-6C945A48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C3BC2B5-BDB0-8CFA-9DC6-88242E30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CF7E7BC-29D8-E716-0BF1-FA1F9A9B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15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89A818-32D7-3C6F-7713-0CB4CECA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3D44ACA-A097-5552-2849-24843535A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AF93B2-F671-2590-B1A5-DCE68F3F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78BAA42-4BE6-1EA6-4362-E917E2CC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FCA8DB9-FE01-B723-E37E-6D13470B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97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A605109-993E-68BA-8C5C-9D69DC356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C727E65-6427-E93C-C99E-3331424A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8B85ABA-84CE-BFAD-97DE-646D3384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3CF128-5CA1-2DC7-6547-4077FD3B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E76028-60DA-F911-558A-9FC9C242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505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37BDEEA-1CAA-0D98-970F-0E17F6DF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091A8C0-C951-1121-61EB-6C5B71D9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C2726E5-3E35-49D8-5BB4-65459A3C5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F1E0E-E72F-4484-9976-B5AE25746842}" type="datetimeFigureOut">
              <a:rPr lang="pl-PL" smtClean="0"/>
              <a:t>24.10.2025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143B2F-2519-3FBD-C202-DBE33D61A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51F000-2152-645D-FABE-E6C7E874E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3D66-9AEE-4664-BD58-968A1753C46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750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a 25">
            <a:extLst>
              <a:ext uri="{FF2B5EF4-FFF2-40B4-BE49-F238E27FC236}">
                <a16:creationId xmlns:a16="http://schemas.microsoft.com/office/drawing/2014/main" id="{080D8160-8AED-D448-53DB-70C0832A3B49}"/>
              </a:ext>
            </a:extLst>
          </p:cNvPr>
          <p:cNvGrpSpPr/>
          <p:nvPr/>
        </p:nvGrpSpPr>
        <p:grpSpPr>
          <a:xfrm>
            <a:off x="261123" y="779929"/>
            <a:ext cx="6647954" cy="5711739"/>
            <a:chOff x="261123" y="779929"/>
            <a:chExt cx="6647954" cy="5711739"/>
          </a:xfrm>
        </p:grpSpPr>
        <p:sp>
          <p:nvSpPr>
            <p:cNvPr id="6" name="Schemat blokowy: dysk magnetyczny 5">
              <a:extLst>
                <a:ext uri="{FF2B5EF4-FFF2-40B4-BE49-F238E27FC236}">
                  <a16:creationId xmlns:a16="http://schemas.microsoft.com/office/drawing/2014/main" id="{94FA04EE-B324-7F43-2059-D5BF7F3D70D9}"/>
                </a:ext>
              </a:extLst>
            </p:cNvPr>
            <p:cNvSpPr/>
            <p:nvPr/>
          </p:nvSpPr>
          <p:spPr>
            <a:xfrm>
              <a:off x="2805953" y="779929"/>
              <a:ext cx="1380565" cy="618564"/>
            </a:xfrm>
            <a:prstGeom prst="flowChartMagneticDisk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Dataset</a:t>
              </a:r>
            </a:p>
          </p:txBody>
        </p:sp>
        <p:cxnSp>
          <p:nvCxnSpPr>
            <p:cNvPr id="44" name="Łącznik prosty ze strzałką 43">
              <a:extLst>
                <a:ext uri="{FF2B5EF4-FFF2-40B4-BE49-F238E27FC236}">
                  <a16:creationId xmlns:a16="http://schemas.microsoft.com/office/drawing/2014/main" id="{0F7E9159-4EA8-DDE7-1CB8-7D5FC060FD93}"/>
                </a:ext>
              </a:extLst>
            </p:cNvPr>
            <p:cNvCxnSpPr>
              <a:cxnSpLocks/>
              <a:stCxn id="6" idx="3"/>
              <a:endCxn id="48" idx="0"/>
            </p:cNvCxnSpPr>
            <p:nvPr/>
          </p:nvCxnSpPr>
          <p:spPr>
            <a:xfrm flipH="1">
              <a:off x="3491752" y="1398493"/>
              <a:ext cx="4484" cy="188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Prostokąt 47">
              <a:extLst>
                <a:ext uri="{FF2B5EF4-FFF2-40B4-BE49-F238E27FC236}">
                  <a16:creationId xmlns:a16="http://schemas.microsoft.com/office/drawing/2014/main" id="{1D36903F-861C-41E4-0899-C077D75D24A0}"/>
                </a:ext>
              </a:extLst>
            </p:cNvPr>
            <p:cNvSpPr/>
            <p:nvPr/>
          </p:nvSpPr>
          <p:spPr>
            <a:xfrm>
              <a:off x="2805953" y="1586746"/>
              <a:ext cx="1371598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Feature Engineering</a:t>
              </a:r>
            </a:p>
          </p:txBody>
        </p:sp>
        <p:sp>
          <p:nvSpPr>
            <p:cNvPr id="59" name="Równoległobok 58">
              <a:extLst>
                <a:ext uri="{FF2B5EF4-FFF2-40B4-BE49-F238E27FC236}">
                  <a16:creationId xmlns:a16="http://schemas.microsoft.com/office/drawing/2014/main" id="{D485D47B-81E9-DAA9-EEB4-B5510237B8B2}"/>
                </a:ext>
              </a:extLst>
            </p:cNvPr>
            <p:cNvSpPr/>
            <p:nvPr/>
          </p:nvSpPr>
          <p:spPr>
            <a:xfrm>
              <a:off x="2129119" y="2138072"/>
              <a:ext cx="1371599" cy="268943"/>
            </a:xfrm>
            <a:prstGeom prst="parallelogram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User Features</a:t>
              </a:r>
            </a:p>
          </p:txBody>
        </p:sp>
        <p:sp>
          <p:nvSpPr>
            <p:cNvPr id="66" name="Równoległobok 65">
              <a:extLst>
                <a:ext uri="{FF2B5EF4-FFF2-40B4-BE49-F238E27FC236}">
                  <a16:creationId xmlns:a16="http://schemas.microsoft.com/office/drawing/2014/main" id="{15DC0DED-ADCE-1D87-1BBD-0376B961814F}"/>
                </a:ext>
              </a:extLst>
            </p:cNvPr>
            <p:cNvSpPr/>
            <p:nvPr/>
          </p:nvSpPr>
          <p:spPr>
            <a:xfrm>
              <a:off x="3500718" y="2138073"/>
              <a:ext cx="1371600" cy="268943"/>
            </a:xfrm>
            <a:prstGeom prst="parallelogram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Tweet Features</a:t>
              </a:r>
            </a:p>
          </p:txBody>
        </p:sp>
        <p:sp>
          <p:nvSpPr>
            <p:cNvPr id="119" name="Równoległobok 118">
              <a:extLst>
                <a:ext uri="{FF2B5EF4-FFF2-40B4-BE49-F238E27FC236}">
                  <a16:creationId xmlns:a16="http://schemas.microsoft.com/office/drawing/2014/main" id="{462EF5FF-332D-DE73-15F3-F1E7E0FAB1F6}"/>
                </a:ext>
              </a:extLst>
            </p:cNvPr>
            <p:cNvSpPr/>
            <p:nvPr/>
          </p:nvSpPr>
          <p:spPr>
            <a:xfrm>
              <a:off x="2129120" y="2716293"/>
              <a:ext cx="2743199" cy="268943"/>
            </a:xfrm>
            <a:prstGeom prst="parallelogram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Enhanced User Features</a:t>
              </a:r>
            </a:p>
          </p:txBody>
        </p:sp>
        <p:cxnSp>
          <p:nvCxnSpPr>
            <p:cNvPr id="127" name="Łącznik: łamany 126">
              <a:extLst>
                <a:ext uri="{FF2B5EF4-FFF2-40B4-BE49-F238E27FC236}">
                  <a16:creationId xmlns:a16="http://schemas.microsoft.com/office/drawing/2014/main" id="{13218B9C-A842-526B-8ABA-8F1E55B21220}"/>
                </a:ext>
              </a:extLst>
            </p:cNvPr>
            <p:cNvCxnSpPr>
              <a:cxnSpLocks/>
              <a:stCxn id="48" idx="2"/>
              <a:endCxn id="66" idx="1"/>
            </p:cNvCxnSpPr>
            <p:nvPr/>
          </p:nvCxnSpPr>
          <p:spPr>
            <a:xfrm rot="16200000" flipH="1">
              <a:off x="3701304" y="1619241"/>
              <a:ext cx="309280" cy="728384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Łącznik: łamany 127">
              <a:extLst>
                <a:ext uri="{FF2B5EF4-FFF2-40B4-BE49-F238E27FC236}">
                  <a16:creationId xmlns:a16="http://schemas.microsoft.com/office/drawing/2014/main" id="{6CC2576B-369F-B094-9AA4-16E583B56C66}"/>
                </a:ext>
              </a:extLst>
            </p:cNvPr>
            <p:cNvCxnSpPr>
              <a:cxnSpLocks/>
              <a:stCxn id="48" idx="2"/>
              <a:endCxn id="59" idx="0"/>
            </p:cNvCxnSpPr>
            <p:nvPr/>
          </p:nvCxnSpPr>
          <p:spPr>
            <a:xfrm rot="5400000">
              <a:off x="2998697" y="1645016"/>
              <a:ext cx="309279" cy="67683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Łącznik: łamany 139">
              <a:extLst>
                <a:ext uri="{FF2B5EF4-FFF2-40B4-BE49-F238E27FC236}">
                  <a16:creationId xmlns:a16="http://schemas.microsoft.com/office/drawing/2014/main" id="{36BF3C8C-CCF7-4414-1631-3140C8EC69BB}"/>
                </a:ext>
              </a:extLst>
            </p:cNvPr>
            <p:cNvCxnSpPr>
              <a:cxnSpLocks/>
              <a:stCxn id="59" idx="3"/>
              <a:endCxn id="119" idx="0"/>
            </p:cNvCxnSpPr>
            <p:nvPr/>
          </p:nvCxnSpPr>
          <p:spPr>
            <a:xfrm rot="16200000" flipH="1">
              <a:off x="2986371" y="2201944"/>
              <a:ext cx="309278" cy="719419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Łącznik: łamany 140">
              <a:extLst>
                <a:ext uri="{FF2B5EF4-FFF2-40B4-BE49-F238E27FC236}">
                  <a16:creationId xmlns:a16="http://schemas.microsoft.com/office/drawing/2014/main" id="{487A1DC0-5DA1-D2EC-CEAE-53BE7AF4DCD3}"/>
                </a:ext>
              </a:extLst>
            </p:cNvPr>
            <p:cNvCxnSpPr>
              <a:cxnSpLocks/>
              <a:stCxn id="66" idx="4"/>
              <a:endCxn id="119" idx="0"/>
            </p:cNvCxnSpPr>
            <p:nvPr/>
          </p:nvCxnSpPr>
          <p:spPr>
            <a:xfrm rot="5400000">
              <a:off x="3688981" y="2218755"/>
              <a:ext cx="309277" cy="68579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Prostokąt 152">
              <a:extLst>
                <a:ext uri="{FF2B5EF4-FFF2-40B4-BE49-F238E27FC236}">
                  <a16:creationId xmlns:a16="http://schemas.microsoft.com/office/drawing/2014/main" id="{3E60F5A6-3DE6-0788-AAAC-03CF6E7E0218}"/>
                </a:ext>
              </a:extLst>
            </p:cNvPr>
            <p:cNvSpPr/>
            <p:nvPr/>
          </p:nvSpPr>
          <p:spPr>
            <a:xfrm>
              <a:off x="2768976" y="3173489"/>
              <a:ext cx="1396251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Missing Data Handling</a:t>
              </a:r>
            </a:p>
          </p:txBody>
        </p:sp>
        <p:cxnSp>
          <p:nvCxnSpPr>
            <p:cNvPr id="154" name="Łącznik prosty ze strzałką 153">
              <a:extLst>
                <a:ext uri="{FF2B5EF4-FFF2-40B4-BE49-F238E27FC236}">
                  <a16:creationId xmlns:a16="http://schemas.microsoft.com/office/drawing/2014/main" id="{32727915-323E-B42C-55F1-B1497DC4613E}"/>
                </a:ext>
              </a:extLst>
            </p:cNvPr>
            <p:cNvCxnSpPr>
              <a:cxnSpLocks/>
              <a:stCxn id="119" idx="3"/>
              <a:endCxn id="153" idx="0"/>
            </p:cNvCxnSpPr>
            <p:nvPr/>
          </p:nvCxnSpPr>
          <p:spPr>
            <a:xfrm>
              <a:off x="3467102" y="2985236"/>
              <a:ext cx="0" cy="1882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ównoległobok 183">
              <a:extLst>
                <a:ext uri="{FF2B5EF4-FFF2-40B4-BE49-F238E27FC236}">
                  <a16:creationId xmlns:a16="http://schemas.microsoft.com/office/drawing/2014/main" id="{BE0036EA-756E-75AC-1DB9-E0753EBE4CBF}"/>
                </a:ext>
              </a:extLst>
            </p:cNvPr>
            <p:cNvSpPr/>
            <p:nvPr/>
          </p:nvSpPr>
          <p:spPr>
            <a:xfrm>
              <a:off x="1355410" y="3732125"/>
              <a:ext cx="1976718" cy="268943"/>
            </a:xfrm>
            <a:prstGeom prst="parallelogram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Numeric/Boolean Features</a:t>
              </a:r>
            </a:p>
          </p:txBody>
        </p:sp>
        <p:sp>
          <p:nvSpPr>
            <p:cNvPr id="185" name="Równoległobok 184">
              <a:extLst>
                <a:ext uri="{FF2B5EF4-FFF2-40B4-BE49-F238E27FC236}">
                  <a16:creationId xmlns:a16="http://schemas.microsoft.com/office/drawing/2014/main" id="{3D4B9923-C2FA-14DF-C917-8307FFEE1737}"/>
                </a:ext>
              </a:extLst>
            </p:cNvPr>
            <p:cNvSpPr/>
            <p:nvPr/>
          </p:nvSpPr>
          <p:spPr>
            <a:xfrm>
              <a:off x="3331115" y="3732125"/>
              <a:ext cx="1116106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Tweets</a:t>
              </a:r>
            </a:p>
          </p:txBody>
        </p:sp>
        <p:sp>
          <p:nvSpPr>
            <p:cNvPr id="186" name="Równoległobok 185">
              <a:extLst>
                <a:ext uri="{FF2B5EF4-FFF2-40B4-BE49-F238E27FC236}">
                  <a16:creationId xmlns:a16="http://schemas.microsoft.com/office/drawing/2014/main" id="{E97AF5FF-81B1-30F0-7F80-095FE9F770F8}"/>
                </a:ext>
              </a:extLst>
            </p:cNvPr>
            <p:cNvSpPr/>
            <p:nvPr/>
          </p:nvSpPr>
          <p:spPr>
            <a:xfrm>
              <a:off x="4453382" y="3732125"/>
              <a:ext cx="1116106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Description</a:t>
              </a:r>
            </a:p>
          </p:txBody>
        </p:sp>
        <p:sp>
          <p:nvSpPr>
            <p:cNvPr id="193" name="Prostokąt 192">
              <a:extLst>
                <a:ext uri="{FF2B5EF4-FFF2-40B4-BE49-F238E27FC236}">
                  <a16:creationId xmlns:a16="http://schemas.microsoft.com/office/drawing/2014/main" id="{0F1F91DD-9FFA-67C6-0150-287443A6E402}"/>
                </a:ext>
              </a:extLst>
            </p:cNvPr>
            <p:cNvSpPr/>
            <p:nvPr/>
          </p:nvSpPr>
          <p:spPr>
            <a:xfrm>
              <a:off x="1646709" y="4162425"/>
              <a:ext cx="1396251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Feature Selection</a:t>
              </a:r>
            </a:p>
          </p:txBody>
        </p:sp>
        <p:cxnSp>
          <p:nvCxnSpPr>
            <p:cNvPr id="199" name="Łącznik prosty ze strzałką 198">
              <a:extLst>
                <a:ext uri="{FF2B5EF4-FFF2-40B4-BE49-F238E27FC236}">
                  <a16:creationId xmlns:a16="http://schemas.microsoft.com/office/drawing/2014/main" id="{F025D7C0-B8E2-716C-B26C-F6B7A17051E5}"/>
                </a:ext>
              </a:extLst>
            </p:cNvPr>
            <p:cNvCxnSpPr>
              <a:cxnSpLocks/>
              <a:stCxn id="184" idx="4"/>
              <a:endCxn id="193" idx="0"/>
            </p:cNvCxnSpPr>
            <p:nvPr/>
          </p:nvCxnSpPr>
          <p:spPr>
            <a:xfrm>
              <a:off x="2343769" y="4001068"/>
              <a:ext cx="1066" cy="1613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Łącznik prosty ze strzałką 212">
              <a:extLst>
                <a:ext uri="{FF2B5EF4-FFF2-40B4-BE49-F238E27FC236}">
                  <a16:creationId xmlns:a16="http://schemas.microsoft.com/office/drawing/2014/main" id="{E4EFBE7C-3BB4-1B98-C745-2C5DB583DDAC}"/>
                </a:ext>
              </a:extLst>
            </p:cNvPr>
            <p:cNvCxnSpPr>
              <a:cxnSpLocks/>
              <a:stCxn id="194" idx="3"/>
            </p:cNvCxnSpPr>
            <p:nvPr/>
          </p:nvCxnSpPr>
          <p:spPr>
            <a:xfrm>
              <a:off x="1119744" y="4963468"/>
              <a:ext cx="0" cy="1878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Prostokąt 223">
              <a:extLst>
                <a:ext uri="{FF2B5EF4-FFF2-40B4-BE49-F238E27FC236}">
                  <a16:creationId xmlns:a16="http://schemas.microsoft.com/office/drawing/2014/main" id="{330846D0-EABE-6D88-A5B6-4EBA8D5DC2D0}"/>
                </a:ext>
              </a:extLst>
            </p:cNvPr>
            <p:cNvSpPr/>
            <p:nvPr/>
          </p:nvSpPr>
          <p:spPr>
            <a:xfrm>
              <a:off x="703445" y="5151360"/>
              <a:ext cx="765361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Scaling</a:t>
              </a:r>
            </a:p>
          </p:txBody>
        </p:sp>
        <p:sp>
          <p:nvSpPr>
            <p:cNvPr id="247" name="Prostokąt 246">
              <a:extLst>
                <a:ext uri="{FF2B5EF4-FFF2-40B4-BE49-F238E27FC236}">
                  <a16:creationId xmlns:a16="http://schemas.microsoft.com/office/drawing/2014/main" id="{CDB3971A-5712-9C3F-2205-551EDABB61BE}"/>
                </a:ext>
              </a:extLst>
            </p:cNvPr>
            <p:cNvSpPr/>
            <p:nvPr/>
          </p:nvSpPr>
          <p:spPr>
            <a:xfrm>
              <a:off x="3466036" y="4162425"/>
              <a:ext cx="846153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Embedding</a:t>
              </a:r>
            </a:p>
          </p:txBody>
        </p:sp>
        <p:grpSp>
          <p:nvGrpSpPr>
            <p:cNvPr id="306" name="Grupa 305">
              <a:extLst>
                <a:ext uri="{FF2B5EF4-FFF2-40B4-BE49-F238E27FC236}">
                  <a16:creationId xmlns:a16="http://schemas.microsoft.com/office/drawing/2014/main" id="{854BC519-FE36-DAF8-D754-CCE08BFC43FB}"/>
                </a:ext>
              </a:extLst>
            </p:cNvPr>
            <p:cNvGrpSpPr/>
            <p:nvPr/>
          </p:nvGrpSpPr>
          <p:grpSpPr>
            <a:xfrm>
              <a:off x="455236" y="4694525"/>
              <a:ext cx="2752886" cy="268943"/>
              <a:chOff x="3476014" y="4975062"/>
              <a:chExt cx="2752886" cy="268943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194" name="Równoległobok 193">
                <a:extLst>
                  <a:ext uri="{FF2B5EF4-FFF2-40B4-BE49-F238E27FC236}">
                    <a16:creationId xmlns:a16="http://schemas.microsoft.com/office/drawing/2014/main" id="{EDB6739A-15DD-72FB-893D-3F09735B6F5B}"/>
                  </a:ext>
                </a:extLst>
              </p:cNvPr>
              <p:cNvSpPr/>
              <p:nvPr/>
            </p:nvSpPr>
            <p:spPr>
              <a:xfrm>
                <a:off x="3476014" y="4975062"/>
                <a:ext cx="1396251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Numeric Features</a:t>
                </a:r>
              </a:p>
            </p:txBody>
          </p:sp>
          <p:sp>
            <p:nvSpPr>
              <p:cNvPr id="197" name="Równoległobok 196">
                <a:extLst>
                  <a:ext uri="{FF2B5EF4-FFF2-40B4-BE49-F238E27FC236}">
                    <a16:creationId xmlns:a16="http://schemas.microsoft.com/office/drawing/2014/main" id="{1573B144-96D5-CFF3-A4B8-A6C6D4A8438D}"/>
                  </a:ext>
                </a:extLst>
              </p:cNvPr>
              <p:cNvSpPr/>
              <p:nvPr/>
            </p:nvSpPr>
            <p:spPr>
              <a:xfrm>
                <a:off x="4832649" y="4975062"/>
                <a:ext cx="1396251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Boolean Features</a:t>
                </a:r>
              </a:p>
            </p:txBody>
          </p:sp>
        </p:grpSp>
        <p:sp>
          <p:nvSpPr>
            <p:cNvPr id="250" name="Równoległobok 249">
              <a:extLst>
                <a:ext uri="{FF2B5EF4-FFF2-40B4-BE49-F238E27FC236}">
                  <a16:creationId xmlns:a16="http://schemas.microsoft.com/office/drawing/2014/main" id="{687E49AB-CD8E-84E7-F53E-92EE8F5D7AA5}"/>
                </a:ext>
              </a:extLst>
            </p:cNvPr>
            <p:cNvSpPr/>
            <p:nvPr/>
          </p:nvSpPr>
          <p:spPr>
            <a:xfrm>
              <a:off x="3208122" y="4697575"/>
              <a:ext cx="1731255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Tweets</a:t>
              </a:r>
            </a:p>
          </p:txBody>
        </p:sp>
        <p:sp>
          <p:nvSpPr>
            <p:cNvPr id="251" name="Równoległobok 250">
              <a:extLst>
                <a:ext uri="{FF2B5EF4-FFF2-40B4-BE49-F238E27FC236}">
                  <a16:creationId xmlns:a16="http://schemas.microsoft.com/office/drawing/2014/main" id="{3B2D1373-9C78-EC1E-FC4D-8FE3A258D34C}"/>
                </a:ext>
              </a:extLst>
            </p:cNvPr>
            <p:cNvSpPr/>
            <p:nvPr/>
          </p:nvSpPr>
          <p:spPr>
            <a:xfrm>
              <a:off x="4935881" y="4694163"/>
              <a:ext cx="1731261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Description</a:t>
              </a:r>
            </a:p>
          </p:txBody>
        </p:sp>
        <p:sp>
          <p:nvSpPr>
            <p:cNvPr id="253" name="Prostokąt 252">
              <a:extLst>
                <a:ext uri="{FF2B5EF4-FFF2-40B4-BE49-F238E27FC236}">
                  <a16:creationId xmlns:a16="http://schemas.microsoft.com/office/drawing/2014/main" id="{9CC806A7-623B-CB82-6842-DD3FBBEDFEF4}"/>
                </a:ext>
              </a:extLst>
            </p:cNvPr>
            <p:cNvSpPr/>
            <p:nvPr/>
          </p:nvSpPr>
          <p:spPr>
            <a:xfrm>
              <a:off x="4588358" y="4162425"/>
              <a:ext cx="846153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Embedding</a:t>
              </a:r>
            </a:p>
          </p:txBody>
        </p:sp>
        <p:cxnSp>
          <p:nvCxnSpPr>
            <p:cNvPr id="254" name="Łącznik prosty ze strzałką 253">
              <a:extLst>
                <a:ext uri="{FF2B5EF4-FFF2-40B4-BE49-F238E27FC236}">
                  <a16:creationId xmlns:a16="http://schemas.microsoft.com/office/drawing/2014/main" id="{3F9563CF-8E22-E780-7C7E-982227775717}"/>
                </a:ext>
              </a:extLst>
            </p:cNvPr>
            <p:cNvCxnSpPr>
              <a:cxnSpLocks/>
              <a:stCxn id="185" idx="4"/>
              <a:endCxn id="247" idx="0"/>
            </p:cNvCxnSpPr>
            <p:nvPr/>
          </p:nvCxnSpPr>
          <p:spPr>
            <a:xfrm flipH="1">
              <a:off x="3889113" y="4001068"/>
              <a:ext cx="55" cy="1613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Łącznik prosty ze strzałką 256">
              <a:extLst>
                <a:ext uri="{FF2B5EF4-FFF2-40B4-BE49-F238E27FC236}">
                  <a16:creationId xmlns:a16="http://schemas.microsoft.com/office/drawing/2014/main" id="{F402FCE8-72E5-394B-7791-BBE4FB0DF85D}"/>
                </a:ext>
              </a:extLst>
            </p:cNvPr>
            <p:cNvCxnSpPr>
              <a:cxnSpLocks/>
              <a:stCxn id="186" idx="4"/>
              <a:endCxn id="253" idx="0"/>
            </p:cNvCxnSpPr>
            <p:nvPr/>
          </p:nvCxnSpPr>
          <p:spPr>
            <a:xfrm>
              <a:off x="5011435" y="4001068"/>
              <a:ext cx="0" cy="1613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Łącznik: łamany 265">
              <a:extLst>
                <a:ext uri="{FF2B5EF4-FFF2-40B4-BE49-F238E27FC236}">
                  <a16:creationId xmlns:a16="http://schemas.microsoft.com/office/drawing/2014/main" id="{6708B672-3C44-579B-02F7-9E32E84ADBA6}"/>
                </a:ext>
              </a:extLst>
            </p:cNvPr>
            <p:cNvCxnSpPr>
              <a:cxnSpLocks/>
              <a:stCxn id="153" idx="2"/>
              <a:endCxn id="184" idx="0"/>
            </p:cNvCxnSpPr>
            <p:nvPr/>
          </p:nvCxnSpPr>
          <p:spPr>
            <a:xfrm rot="5400000">
              <a:off x="2747142" y="3012164"/>
              <a:ext cx="316589" cy="112333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Łącznik: łamany 268">
              <a:extLst>
                <a:ext uri="{FF2B5EF4-FFF2-40B4-BE49-F238E27FC236}">
                  <a16:creationId xmlns:a16="http://schemas.microsoft.com/office/drawing/2014/main" id="{F026B80A-CE6E-BE0C-6C9E-98ABAE211F8A}"/>
                </a:ext>
              </a:extLst>
            </p:cNvPr>
            <p:cNvCxnSpPr>
              <a:cxnSpLocks/>
              <a:stCxn id="153" idx="2"/>
              <a:endCxn id="185" idx="1"/>
            </p:cNvCxnSpPr>
            <p:nvPr/>
          </p:nvCxnSpPr>
          <p:spPr>
            <a:xfrm rot="16200000" flipH="1">
              <a:off x="3536650" y="3345988"/>
              <a:ext cx="316589" cy="45568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Łącznik: łamany 271">
              <a:extLst>
                <a:ext uri="{FF2B5EF4-FFF2-40B4-BE49-F238E27FC236}">
                  <a16:creationId xmlns:a16="http://schemas.microsoft.com/office/drawing/2014/main" id="{2737C2B4-CB65-9A4B-BC09-DA1FCA2BAFA8}"/>
                </a:ext>
              </a:extLst>
            </p:cNvPr>
            <p:cNvCxnSpPr>
              <a:cxnSpLocks/>
              <a:stCxn id="153" idx="2"/>
              <a:endCxn id="186" idx="1"/>
            </p:cNvCxnSpPr>
            <p:nvPr/>
          </p:nvCxnSpPr>
          <p:spPr>
            <a:xfrm rot="16200000" flipH="1">
              <a:off x="4097783" y="2784854"/>
              <a:ext cx="316589" cy="157795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Łącznik: łamany 276">
              <a:extLst>
                <a:ext uri="{FF2B5EF4-FFF2-40B4-BE49-F238E27FC236}">
                  <a16:creationId xmlns:a16="http://schemas.microsoft.com/office/drawing/2014/main" id="{BF4AF087-70CB-257C-DFA2-97CE462018EB}"/>
                </a:ext>
              </a:extLst>
            </p:cNvPr>
            <p:cNvCxnSpPr>
              <a:cxnSpLocks/>
              <a:stCxn id="247" idx="2"/>
              <a:endCxn id="250" idx="1"/>
            </p:cNvCxnSpPr>
            <p:nvPr/>
          </p:nvCxnSpPr>
          <p:spPr>
            <a:xfrm rot="16200000" flipH="1">
              <a:off x="3851689" y="4441896"/>
              <a:ext cx="293103" cy="21825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Łącznik: łamany 279">
              <a:extLst>
                <a:ext uri="{FF2B5EF4-FFF2-40B4-BE49-F238E27FC236}">
                  <a16:creationId xmlns:a16="http://schemas.microsoft.com/office/drawing/2014/main" id="{429FBDE6-772A-CEA2-0E78-41C4EB61DAB6}"/>
                </a:ext>
              </a:extLst>
            </p:cNvPr>
            <p:cNvCxnSpPr>
              <a:cxnSpLocks/>
              <a:stCxn id="253" idx="2"/>
              <a:endCxn id="251" idx="1"/>
            </p:cNvCxnSpPr>
            <p:nvPr/>
          </p:nvCxnSpPr>
          <p:spPr>
            <a:xfrm rot="16200000" flipH="1">
              <a:off x="5278437" y="4137470"/>
              <a:ext cx="289691" cy="82369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Łącznik: łamany 294">
              <a:extLst>
                <a:ext uri="{FF2B5EF4-FFF2-40B4-BE49-F238E27FC236}">
                  <a16:creationId xmlns:a16="http://schemas.microsoft.com/office/drawing/2014/main" id="{AD1070E6-E94B-3EF9-2C04-81E23A4EF907}"/>
                </a:ext>
              </a:extLst>
            </p:cNvPr>
            <p:cNvCxnSpPr>
              <a:cxnSpLocks/>
              <a:stCxn id="193" idx="2"/>
              <a:endCxn id="194" idx="1"/>
            </p:cNvCxnSpPr>
            <p:nvPr/>
          </p:nvCxnSpPr>
          <p:spPr>
            <a:xfrm rot="5400000">
              <a:off x="1620881" y="3970570"/>
              <a:ext cx="290053" cy="115785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Łącznik: łamany 297">
              <a:extLst>
                <a:ext uri="{FF2B5EF4-FFF2-40B4-BE49-F238E27FC236}">
                  <a16:creationId xmlns:a16="http://schemas.microsoft.com/office/drawing/2014/main" id="{31A8639C-F1E7-F785-0593-DE4B1C455724}"/>
                </a:ext>
              </a:extLst>
            </p:cNvPr>
            <p:cNvCxnSpPr>
              <a:cxnSpLocks/>
              <a:stCxn id="193" idx="2"/>
              <a:endCxn id="197" idx="1"/>
            </p:cNvCxnSpPr>
            <p:nvPr/>
          </p:nvCxnSpPr>
          <p:spPr>
            <a:xfrm rot="16200000" flipH="1">
              <a:off x="2299198" y="4450108"/>
              <a:ext cx="290053" cy="1987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Równoległobok 319">
              <a:extLst>
                <a:ext uri="{FF2B5EF4-FFF2-40B4-BE49-F238E27FC236}">
                  <a16:creationId xmlns:a16="http://schemas.microsoft.com/office/drawing/2014/main" id="{A8EECB01-E131-BF9E-6A75-2E91B69C3D12}"/>
                </a:ext>
              </a:extLst>
            </p:cNvPr>
            <p:cNvSpPr/>
            <p:nvPr/>
          </p:nvSpPr>
          <p:spPr>
            <a:xfrm>
              <a:off x="3446561" y="5686510"/>
              <a:ext cx="1731255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Tweets</a:t>
              </a:r>
            </a:p>
          </p:txBody>
        </p:sp>
        <p:sp>
          <p:nvSpPr>
            <p:cNvPr id="321" name="Równoległobok 320">
              <a:extLst>
                <a:ext uri="{FF2B5EF4-FFF2-40B4-BE49-F238E27FC236}">
                  <a16:creationId xmlns:a16="http://schemas.microsoft.com/office/drawing/2014/main" id="{D76EA622-1236-1408-E995-86E5B717C7BF}"/>
                </a:ext>
              </a:extLst>
            </p:cNvPr>
            <p:cNvSpPr/>
            <p:nvPr/>
          </p:nvSpPr>
          <p:spPr>
            <a:xfrm>
              <a:off x="5177816" y="5683098"/>
              <a:ext cx="1731261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Description</a:t>
              </a:r>
            </a:p>
          </p:txBody>
        </p:sp>
        <p:grpSp>
          <p:nvGrpSpPr>
            <p:cNvPr id="327" name="Grupa 326">
              <a:extLst>
                <a:ext uri="{FF2B5EF4-FFF2-40B4-BE49-F238E27FC236}">
                  <a16:creationId xmlns:a16="http://schemas.microsoft.com/office/drawing/2014/main" id="{8D1DC9B7-E738-1BBE-2EA5-520264A00EC4}"/>
                </a:ext>
              </a:extLst>
            </p:cNvPr>
            <p:cNvGrpSpPr/>
            <p:nvPr/>
          </p:nvGrpSpPr>
          <p:grpSpPr>
            <a:xfrm>
              <a:off x="261123" y="5683098"/>
              <a:ext cx="3185432" cy="268943"/>
              <a:chOff x="3043468" y="4975062"/>
              <a:chExt cx="3185432" cy="268943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28" name="Równoległobok 327">
                <a:extLst>
                  <a:ext uri="{FF2B5EF4-FFF2-40B4-BE49-F238E27FC236}">
                    <a16:creationId xmlns:a16="http://schemas.microsoft.com/office/drawing/2014/main" id="{7DFBEB6E-888E-2E6D-27D3-C3CDAEC1768F}"/>
                  </a:ext>
                </a:extLst>
              </p:cNvPr>
              <p:cNvSpPr/>
              <p:nvPr/>
            </p:nvSpPr>
            <p:spPr>
              <a:xfrm>
                <a:off x="3043468" y="4975062"/>
                <a:ext cx="1828797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Scaled Numeric Features</a:t>
                </a:r>
              </a:p>
            </p:txBody>
          </p:sp>
          <p:sp>
            <p:nvSpPr>
              <p:cNvPr id="329" name="Równoległobok 328">
                <a:extLst>
                  <a:ext uri="{FF2B5EF4-FFF2-40B4-BE49-F238E27FC236}">
                    <a16:creationId xmlns:a16="http://schemas.microsoft.com/office/drawing/2014/main" id="{3BD95392-096F-69E4-37A7-91F03BC0A76F}"/>
                  </a:ext>
                </a:extLst>
              </p:cNvPr>
              <p:cNvSpPr/>
              <p:nvPr/>
            </p:nvSpPr>
            <p:spPr>
              <a:xfrm>
                <a:off x="4832649" y="4975062"/>
                <a:ext cx="1396251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Boolean Features</a:t>
                </a:r>
              </a:p>
            </p:txBody>
          </p:sp>
        </p:grpSp>
        <p:cxnSp>
          <p:nvCxnSpPr>
            <p:cNvPr id="340" name="Łącznik: łamany 339">
              <a:extLst>
                <a:ext uri="{FF2B5EF4-FFF2-40B4-BE49-F238E27FC236}">
                  <a16:creationId xmlns:a16="http://schemas.microsoft.com/office/drawing/2014/main" id="{9382E30C-DD4A-29C2-D04E-704935A59610}"/>
                </a:ext>
              </a:extLst>
            </p:cNvPr>
            <p:cNvCxnSpPr>
              <a:cxnSpLocks/>
              <a:stCxn id="224" idx="2"/>
              <a:endCxn id="328" idx="1"/>
            </p:cNvCxnSpPr>
            <p:nvPr/>
          </p:nvCxnSpPr>
          <p:spPr>
            <a:xfrm rot="16200000" flipH="1">
              <a:off x="1002787" y="5476745"/>
              <a:ext cx="289691" cy="12301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Łącznik: łamany 2">
              <a:extLst>
                <a:ext uri="{FF2B5EF4-FFF2-40B4-BE49-F238E27FC236}">
                  <a16:creationId xmlns:a16="http://schemas.microsoft.com/office/drawing/2014/main" id="{31432BFE-36E7-D288-FB19-6DD06F546FB6}"/>
                </a:ext>
              </a:extLst>
            </p:cNvPr>
            <p:cNvCxnSpPr>
              <a:cxnSpLocks/>
              <a:stCxn id="328" idx="3"/>
              <a:endCxn id="15" idx="0"/>
            </p:cNvCxnSpPr>
            <p:nvPr/>
          </p:nvCxnSpPr>
          <p:spPr>
            <a:xfrm rot="16200000" flipH="1">
              <a:off x="2233731" y="4860214"/>
              <a:ext cx="297580" cy="248123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: łamany 7">
              <a:extLst>
                <a:ext uri="{FF2B5EF4-FFF2-40B4-BE49-F238E27FC236}">
                  <a16:creationId xmlns:a16="http://schemas.microsoft.com/office/drawing/2014/main" id="{277C9E7A-3EC1-2BB6-B576-B24462928CAE}"/>
                </a:ext>
              </a:extLst>
            </p:cNvPr>
            <p:cNvCxnSpPr>
              <a:cxnSpLocks/>
              <a:stCxn id="329" idx="4"/>
              <a:endCxn id="15" idx="0"/>
            </p:cNvCxnSpPr>
            <p:nvPr/>
          </p:nvCxnSpPr>
          <p:spPr>
            <a:xfrm rot="16200000" flipH="1">
              <a:off x="3036994" y="5663477"/>
              <a:ext cx="297580" cy="87470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: łamany 9">
              <a:extLst>
                <a:ext uri="{FF2B5EF4-FFF2-40B4-BE49-F238E27FC236}">
                  <a16:creationId xmlns:a16="http://schemas.microsoft.com/office/drawing/2014/main" id="{64CDC0FF-18F7-5DCA-10FB-12EEA15944D5}"/>
                </a:ext>
              </a:extLst>
            </p:cNvPr>
            <p:cNvCxnSpPr>
              <a:cxnSpLocks/>
              <a:stCxn id="320" idx="4"/>
              <a:endCxn id="15" idx="0"/>
            </p:cNvCxnSpPr>
            <p:nvPr/>
          </p:nvCxnSpPr>
          <p:spPr>
            <a:xfrm rot="5400000">
              <a:off x="3820580" y="5758012"/>
              <a:ext cx="294168" cy="68905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: łamany 11">
              <a:extLst>
                <a:ext uri="{FF2B5EF4-FFF2-40B4-BE49-F238E27FC236}">
                  <a16:creationId xmlns:a16="http://schemas.microsoft.com/office/drawing/2014/main" id="{3790CB7D-CD17-EFE8-6386-F91CCDAA4DFF}"/>
                </a:ext>
              </a:extLst>
            </p:cNvPr>
            <p:cNvCxnSpPr>
              <a:cxnSpLocks/>
              <a:stCxn id="321" idx="4"/>
              <a:endCxn id="15" idx="0"/>
            </p:cNvCxnSpPr>
            <p:nvPr/>
          </p:nvCxnSpPr>
          <p:spPr>
            <a:xfrm rot="5400000">
              <a:off x="4684503" y="4890677"/>
              <a:ext cx="297580" cy="242030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rostokąt 14">
              <a:extLst>
                <a:ext uri="{FF2B5EF4-FFF2-40B4-BE49-F238E27FC236}">
                  <a16:creationId xmlns:a16="http://schemas.microsoft.com/office/drawing/2014/main" id="{55161E1A-BB40-04B0-0672-1BE15E0ECFC5}"/>
                </a:ext>
              </a:extLst>
            </p:cNvPr>
            <p:cNvSpPr/>
            <p:nvPr/>
          </p:nvSpPr>
          <p:spPr>
            <a:xfrm>
              <a:off x="3240457" y="6249621"/>
              <a:ext cx="765361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SMOTE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074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BF875A3-2E81-144B-7470-4F2C0085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622" y="19590"/>
            <a:ext cx="7286287" cy="2946057"/>
          </a:xfrm>
          <a:prstGeom prst="rect">
            <a:avLst/>
          </a:prstGeom>
        </p:spPr>
      </p:pic>
      <p:grpSp>
        <p:nvGrpSpPr>
          <p:cNvPr id="126" name="Grupa 125">
            <a:extLst>
              <a:ext uri="{FF2B5EF4-FFF2-40B4-BE49-F238E27FC236}">
                <a16:creationId xmlns:a16="http://schemas.microsoft.com/office/drawing/2014/main" id="{F37E7E39-ACD4-3B79-9697-EFFB4E91DEFA}"/>
              </a:ext>
            </a:extLst>
          </p:cNvPr>
          <p:cNvGrpSpPr/>
          <p:nvPr/>
        </p:nvGrpSpPr>
        <p:grpSpPr>
          <a:xfrm>
            <a:off x="487460" y="2862380"/>
            <a:ext cx="6694898" cy="3367037"/>
            <a:chOff x="487460" y="2862380"/>
            <a:chExt cx="6694898" cy="3367037"/>
          </a:xfrm>
        </p:grpSpPr>
        <p:grpSp>
          <p:nvGrpSpPr>
            <p:cNvPr id="41" name="Grupa 40">
              <a:extLst>
                <a:ext uri="{FF2B5EF4-FFF2-40B4-BE49-F238E27FC236}">
                  <a16:creationId xmlns:a16="http://schemas.microsoft.com/office/drawing/2014/main" id="{C60B4909-8773-2734-7099-D026CD2396BF}"/>
                </a:ext>
              </a:extLst>
            </p:cNvPr>
            <p:cNvGrpSpPr/>
            <p:nvPr/>
          </p:nvGrpSpPr>
          <p:grpSpPr>
            <a:xfrm>
              <a:off x="487460" y="2862381"/>
              <a:ext cx="3185432" cy="268943"/>
              <a:chOff x="3043468" y="4975062"/>
              <a:chExt cx="3185432" cy="268943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48" name="Równoległobok 47">
                <a:extLst>
                  <a:ext uri="{FF2B5EF4-FFF2-40B4-BE49-F238E27FC236}">
                    <a16:creationId xmlns:a16="http://schemas.microsoft.com/office/drawing/2014/main" id="{FAC6AC8C-A435-68C4-AFB8-5F8EB341EF62}"/>
                  </a:ext>
                </a:extLst>
              </p:cNvPr>
              <p:cNvSpPr/>
              <p:nvPr/>
            </p:nvSpPr>
            <p:spPr>
              <a:xfrm>
                <a:off x="3043468" y="4975062"/>
                <a:ext cx="1828797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Scaled Numeric Features</a:t>
                </a:r>
              </a:p>
            </p:txBody>
          </p:sp>
          <p:sp>
            <p:nvSpPr>
              <p:cNvPr id="49" name="Równoległobok 48">
                <a:extLst>
                  <a:ext uri="{FF2B5EF4-FFF2-40B4-BE49-F238E27FC236}">
                    <a16:creationId xmlns:a16="http://schemas.microsoft.com/office/drawing/2014/main" id="{79E9AEA6-0DA9-AD3B-F5A9-67037ECF7B4B}"/>
                  </a:ext>
                </a:extLst>
              </p:cNvPr>
              <p:cNvSpPr/>
              <p:nvPr/>
            </p:nvSpPr>
            <p:spPr>
              <a:xfrm>
                <a:off x="4832649" y="4975062"/>
                <a:ext cx="1396251" cy="268943"/>
              </a:xfrm>
              <a:prstGeom prst="parallelogram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sz="1000" noProof="1"/>
                  <a:t>Boolean Features</a:t>
                </a:r>
              </a:p>
            </p:txBody>
          </p:sp>
        </p:grpSp>
        <p:sp>
          <p:nvSpPr>
            <p:cNvPr id="47" name="Prostokąt 46">
              <a:extLst>
                <a:ext uri="{FF2B5EF4-FFF2-40B4-BE49-F238E27FC236}">
                  <a16:creationId xmlns:a16="http://schemas.microsoft.com/office/drawing/2014/main" id="{78B34631-C58C-924E-4200-4CDF94E233C2}"/>
                </a:ext>
              </a:extLst>
            </p:cNvPr>
            <p:cNvSpPr/>
            <p:nvPr/>
          </p:nvSpPr>
          <p:spPr>
            <a:xfrm>
              <a:off x="491572" y="3362477"/>
              <a:ext cx="309771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Linear Transformation</a:t>
              </a:r>
            </a:p>
          </p:txBody>
        </p:sp>
        <p:sp>
          <p:nvSpPr>
            <p:cNvPr id="55" name="Prostokąt 54">
              <a:extLst>
                <a:ext uri="{FF2B5EF4-FFF2-40B4-BE49-F238E27FC236}">
                  <a16:creationId xmlns:a16="http://schemas.microsoft.com/office/drawing/2014/main" id="{15C3D67B-85A4-9279-6A8A-80527A42B172}"/>
                </a:ext>
              </a:extLst>
            </p:cNvPr>
            <p:cNvSpPr/>
            <p:nvPr/>
          </p:nvSpPr>
          <p:spPr>
            <a:xfrm>
              <a:off x="493628" y="3650309"/>
              <a:ext cx="309771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Leaky ReLU</a:t>
              </a:r>
            </a:p>
          </p:txBody>
        </p:sp>
        <p:sp>
          <p:nvSpPr>
            <p:cNvPr id="58" name="Prostokąt 57">
              <a:extLst>
                <a:ext uri="{FF2B5EF4-FFF2-40B4-BE49-F238E27FC236}">
                  <a16:creationId xmlns:a16="http://schemas.microsoft.com/office/drawing/2014/main" id="{85BF4CFB-FC80-8CC9-B9BC-52933358E11B}"/>
                </a:ext>
              </a:extLst>
            </p:cNvPr>
            <p:cNvSpPr/>
            <p:nvPr/>
          </p:nvSpPr>
          <p:spPr>
            <a:xfrm>
              <a:off x="489516" y="3938141"/>
              <a:ext cx="309771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Dropout</a:t>
              </a:r>
            </a:p>
          </p:txBody>
        </p:sp>
        <p:cxnSp>
          <p:nvCxnSpPr>
            <p:cNvPr id="61" name="Łącznik: łamany 60">
              <a:extLst>
                <a:ext uri="{FF2B5EF4-FFF2-40B4-BE49-F238E27FC236}">
                  <a16:creationId xmlns:a16="http://schemas.microsoft.com/office/drawing/2014/main" id="{5C8C803E-1F19-0E61-4B4B-D9A2AEA19D18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 rot="16200000" flipH="1">
              <a:off x="1605567" y="2927615"/>
              <a:ext cx="231153" cy="63856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Łącznik: łamany 63">
              <a:extLst>
                <a:ext uri="{FF2B5EF4-FFF2-40B4-BE49-F238E27FC236}">
                  <a16:creationId xmlns:a16="http://schemas.microsoft.com/office/drawing/2014/main" id="{3496D73E-5877-A961-B0A3-10FCD65B27E1}"/>
                </a:ext>
              </a:extLst>
            </p:cNvPr>
            <p:cNvCxnSpPr>
              <a:cxnSpLocks/>
              <a:stCxn id="49" idx="4"/>
              <a:endCxn id="47" idx="0"/>
            </p:cNvCxnSpPr>
            <p:nvPr/>
          </p:nvCxnSpPr>
          <p:spPr>
            <a:xfrm rot="5400000">
              <a:off x="2392022" y="2779731"/>
              <a:ext cx="231153" cy="93433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ównoległobok 38">
              <a:extLst>
                <a:ext uri="{FF2B5EF4-FFF2-40B4-BE49-F238E27FC236}">
                  <a16:creationId xmlns:a16="http://schemas.microsoft.com/office/drawing/2014/main" id="{C6DB84A7-2B38-9232-F885-A7DD3FF014C7}"/>
                </a:ext>
              </a:extLst>
            </p:cNvPr>
            <p:cNvSpPr/>
            <p:nvPr/>
          </p:nvSpPr>
          <p:spPr>
            <a:xfrm>
              <a:off x="3713680" y="2862380"/>
              <a:ext cx="1731255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Tweets</a:t>
              </a:r>
            </a:p>
          </p:txBody>
        </p:sp>
        <p:sp>
          <p:nvSpPr>
            <p:cNvPr id="53" name="Prostokąt 52">
              <a:extLst>
                <a:ext uri="{FF2B5EF4-FFF2-40B4-BE49-F238E27FC236}">
                  <a16:creationId xmlns:a16="http://schemas.microsoft.com/office/drawing/2014/main" id="{A8F0BD1C-E180-3AE3-97C7-7269B30EDB12}"/>
                </a:ext>
              </a:extLst>
            </p:cNvPr>
            <p:cNvSpPr/>
            <p:nvPr/>
          </p:nvSpPr>
          <p:spPr>
            <a:xfrm>
              <a:off x="3762674" y="3362475"/>
              <a:ext cx="164149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Linear Transformation</a:t>
              </a:r>
            </a:p>
          </p:txBody>
        </p:sp>
        <p:sp>
          <p:nvSpPr>
            <p:cNvPr id="56" name="Prostokąt 55">
              <a:extLst>
                <a:ext uri="{FF2B5EF4-FFF2-40B4-BE49-F238E27FC236}">
                  <a16:creationId xmlns:a16="http://schemas.microsoft.com/office/drawing/2014/main" id="{584F6364-70D4-F5AA-8E42-DA5969B8D15C}"/>
                </a:ext>
              </a:extLst>
            </p:cNvPr>
            <p:cNvSpPr/>
            <p:nvPr/>
          </p:nvSpPr>
          <p:spPr>
            <a:xfrm>
              <a:off x="3764730" y="3650307"/>
              <a:ext cx="164149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Leaky ReLU</a:t>
              </a:r>
            </a:p>
          </p:txBody>
        </p:sp>
        <p:sp>
          <p:nvSpPr>
            <p:cNvPr id="59" name="Prostokąt 58">
              <a:extLst>
                <a:ext uri="{FF2B5EF4-FFF2-40B4-BE49-F238E27FC236}">
                  <a16:creationId xmlns:a16="http://schemas.microsoft.com/office/drawing/2014/main" id="{B901BD70-EA32-65D9-A918-8AEABAF450E1}"/>
                </a:ext>
              </a:extLst>
            </p:cNvPr>
            <p:cNvSpPr/>
            <p:nvPr/>
          </p:nvSpPr>
          <p:spPr>
            <a:xfrm>
              <a:off x="3760618" y="3938139"/>
              <a:ext cx="164149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Dropout</a:t>
              </a:r>
            </a:p>
          </p:txBody>
        </p:sp>
        <p:cxnSp>
          <p:nvCxnSpPr>
            <p:cNvPr id="67" name="Łącznik prosty ze strzałką 66">
              <a:extLst>
                <a:ext uri="{FF2B5EF4-FFF2-40B4-BE49-F238E27FC236}">
                  <a16:creationId xmlns:a16="http://schemas.microsoft.com/office/drawing/2014/main" id="{BAEB152D-83CF-0737-7C41-8CF0E7DFAFB7}"/>
                </a:ext>
              </a:extLst>
            </p:cNvPr>
            <p:cNvCxnSpPr>
              <a:cxnSpLocks/>
              <a:stCxn id="39" idx="4"/>
              <a:endCxn id="53" idx="0"/>
            </p:cNvCxnSpPr>
            <p:nvPr/>
          </p:nvCxnSpPr>
          <p:spPr>
            <a:xfrm>
              <a:off x="4579308" y="3131323"/>
              <a:ext cx="4112" cy="2311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ównoległobok 39">
              <a:extLst>
                <a:ext uri="{FF2B5EF4-FFF2-40B4-BE49-F238E27FC236}">
                  <a16:creationId xmlns:a16="http://schemas.microsoft.com/office/drawing/2014/main" id="{F92322EE-0DE9-A8AA-4DB1-D92CBB7E4EC9}"/>
                </a:ext>
              </a:extLst>
            </p:cNvPr>
            <p:cNvSpPr/>
            <p:nvPr/>
          </p:nvSpPr>
          <p:spPr>
            <a:xfrm>
              <a:off x="5446985" y="2862381"/>
              <a:ext cx="1731261" cy="268943"/>
            </a:xfrm>
            <a:prstGeom prst="parallelogram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Embedded Description</a:t>
              </a:r>
            </a:p>
          </p:txBody>
        </p:sp>
        <p:sp>
          <p:nvSpPr>
            <p:cNvPr id="54" name="Prostokąt 53">
              <a:extLst>
                <a:ext uri="{FF2B5EF4-FFF2-40B4-BE49-F238E27FC236}">
                  <a16:creationId xmlns:a16="http://schemas.microsoft.com/office/drawing/2014/main" id="{C11577B6-1328-1156-A8AD-9FB4EDF42DE8}"/>
                </a:ext>
              </a:extLst>
            </p:cNvPr>
            <p:cNvSpPr/>
            <p:nvPr/>
          </p:nvSpPr>
          <p:spPr>
            <a:xfrm>
              <a:off x="5449047" y="3362475"/>
              <a:ext cx="1731255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Linear Transformation</a:t>
              </a:r>
            </a:p>
          </p:txBody>
        </p:sp>
        <p:sp>
          <p:nvSpPr>
            <p:cNvPr id="57" name="Prostokąt 56">
              <a:extLst>
                <a:ext uri="{FF2B5EF4-FFF2-40B4-BE49-F238E27FC236}">
                  <a16:creationId xmlns:a16="http://schemas.microsoft.com/office/drawing/2014/main" id="{17AAE24A-46E5-0E59-C16D-AA8CA2A3F688}"/>
                </a:ext>
              </a:extLst>
            </p:cNvPr>
            <p:cNvSpPr/>
            <p:nvPr/>
          </p:nvSpPr>
          <p:spPr>
            <a:xfrm>
              <a:off x="5451103" y="3650307"/>
              <a:ext cx="1731255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Leaky ReLU</a:t>
              </a:r>
            </a:p>
          </p:txBody>
        </p:sp>
        <p:sp>
          <p:nvSpPr>
            <p:cNvPr id="60" name="Prostokąt 59">
              <a:extLst>
                <a:ext uri="{FF2B5EF4-FFF2-40B4-BE49-F238E27FC236}">
                  <a16:creationId xmlns:a16="http://schemas.microsoft.com/office/drawing/2014/main" id="{9073FFEF-74BA-2071-462E-B74AFAD91919}"/>
                </a:ext>
              </a:extLst>
            </p:cNvPr>
            <p:cNvSpPr/>
            <p:nvPr/>
          </p:nvSpPr>
          <p:spPr>
            <a:xfrm>
              <a:off x="5446991" y="3938139"/>
              <a:ext cx="1731255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Dropout</a:t>
              </a:r>
            </a:p>
          </p:txBody>
        </p:sp>
        <p:cxnSp>
          <p:nvCxnSpPr>
            <p:cNvPr id="71" name="Łącznik prosty ze strzałką 70">
              <a:extLst>
                <a:ext uri="{FF2B5EF4-FFF2-40B4-BE49-F238E27FC236}">
                  <a16:creationId xmlns:a16="http://schemas.microsoft.com/office/drawing/2014/main" id="{4EBBF809-2506-1DC7-F28A-440B31ADCF0C}"/>
                </a:ext>
              </a:extLst>
            </p:cNvPr>
            <p:cNvCxnSpPr>
              <a:cxnSpLocks/>
              <a:stCxn id="40" idx="4"/>
              <a:endCxn id="54" idx="0"/>
            </p:cNvCxnSpPr>
            <p:nvPr/>
          </p:nvCxnSpPr>
          <p:spPr>
            <a:xfrm>
              <a:off x="6312616" y="3131324"/>
              <a:ext cx="2059" cy="2311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ównoległobok 91">
              <a:extLst>
                <a:ext uri="{FF2B5EF4-FFF2-40B4-BE49-F238E27FC236}">
                  <a16:creationId xmlns:a16="http://schemas.microsoft.com/office/drawing/2014/main" id="{8ED36EB6-8FDB-CB5C-0091-E772CC556D6C}"/>
                </a:ext>
              </a:extLst>
            </p:cNvPr>
            <p:cNvSpPr/>
            <p:nvPr/>
          </p:nvSpPr>
          <p:spPr>
            <a:xfrm>
              <a:off x="674766" y="4410360"/>
              <a:ext cx="6157783" cy="268943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Output</a:t>
              </a:r>
            </a:p>
          </p:txBody>
        </p:sp>
        <p:sp>
          <p:nvSpPr>
            <p:cNvPr id="93" name="Prostokąt 92">
              <a:extLst>
                <a:ext uri="{FF2B5EF4-FFF2-40B4-BE49-F238E27FC236}">
                  <a16:creationId xmlns:a16="http://schemas.microsoft.com/office/drawing/2014/main" id="{D069ACD7-8372-DAE7-9A6C-FA52E954B30A}"/>
                </a:ext>
              </a:extLst>
            </p:cNvPr>
            <p:cNvSpPr/>
            <p:nvPr/>
          </p:nvSpPr>
          <p:spPr>
            <a:xfrm>
              <a:off x="674765" y="4909475"/>
              <a:ext cx="6157783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Linear Transformation</a:t>
              </a:r>
            </a:p>
          </p:txBody>
        </p:sp>
        <p:sp>
          <p:nvSpPr>
            <p:cNvPr id="94" name="Prostokąt 93">
              <a:extLst>
                <a:ext uri="{FF2B5EF4-FFF2-40B4-BE49-F238E27FC236}">
                  <a16:creationId xmlns:a16="http://schemas.microsoft.com/office/drawing/2014/main" id="{AC7828C1-E585-AFC8-205E-9F2A63FF7284}"/>
                </a:ext>
              </a:extLst>
            </p:cNvPr>
            <p:cNvSpPr/>
            <p:nvPr/>
          </p:nvSpPr>
          <p:spPr>
            <a:xfrm>
              <a:off x="674764" y="5193861"/>
              <a:ext cx="6157783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Leaky ReLU</a:t>
              </a:r>
            </a:p>
          </p:txBody>
        </p:sp>
        <p:sp>
          <p:nvSpPr>
            <p:cNvPr id="95" name="Prostokąt 94">
              <a:extLst>
                <a:ext uri="{FF2B5EF4-FFF2-40B4-BE49-F238E27FC236}">
                  <a16:creationId xmlns:a16="http://schemas.microsoft.com/office/drawing/2014/main" id="{15C72319-F492-F5FA-1794-87839DAC3FA1}"/>
                </a:ext>
              </a:extLst>
            </p:cNvPr>
            <p:cNvSpPr/>
            <p:nvPr/>
          </p:nvSpPr>
          <p:spPr>
            <a:xfrm>
              <a:off x="667805" y="5488255"/>
              <a:ext cx="6164742" cy="24204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Dropout</a:t>
              </a:r>
            </a:p>
          </p:txBody>
        </p:sp>
        <p:cxnSp>
          <p:nvCxnSpPr>
            <p:cNvPr id="96" name="Łącznik: łamany 95">
              <a:extLst>
                <a:ext uri="{FF2B5EF4-FFF2-40B4-BE49-F238E27FC236}">
                  <a16:creationId xmlns:a16="http://schemas.microsoft.com/office/drawing/2014/main" id="{812D08EE-BD3A-3CD0-21BC-275B3EE4CA20}"/>
                </a:ext>
              </a:extLst>
            </p:cNvPr>
            <p:cNvCxnSpPr>
              <a:cxnSpLocks/>
              <a:stCxn id="58" idx="2"/>
              <a:endCxn id="92" idx="0"/>
            </p:cNvCxnSpPr>
            <p:nvPr/>
          </p:nvCxnSpPr>
          <p:spPr>
            <a:xfrm rot="16200000" flipH="1">
              <a:off x="2780929" y="3437631"/>
              <a:ext cx="230172" cy="171528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Łącznik: łamany 98">
              <a:extLst>
                <a:ext uri="{FF2B5EF4-FFF2-40B4-BE49-F238E27FC236}">
                  <a16:creationId xmlns:a16="http://schemas.microsoft.com/office/drawing/2014/main" id="{BCA8C6DC-0A13-EAC9-76C3-C01B728B1764}"/>
                </a:ext>
              </a:extLst>
            </p:cNvPr>
            <p:cNvCxnSpPr>
              <a:cxnSpLocks/>
              <a:stCxn id="59" idx="2"/>
              <a:endCxn id="92" idx="0"/>
            </p:cNvCxnSpPr>
            <p:nvPr/>
          </p:nvCxnSpPr>
          <p:spPr>
            <a:xfrm rot="5400000">
              <a:off x="4052424" y="3881420"/>
              <a:ext cx="230174" cy="82770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Łącznik: łamany 101">
              <a:extLst>
                <a:ext uri="{FF2B5EF4-FFF2-40B4-BE49-F238E27FC236}">
                  <a16:creationId xmlns:a16="http://schemas.microsoft.com/office/drawing/2014/main" id="{707AB330-A244-AD86-B96F-53C36F708BE9}"/>
                </a:ext>
              </a:extLst>
            </p:cNvPr>
            <p:cNvCxnSpPr>
              <a:cxnSpLocks/>
              <a:stCxn id="60" idx="2"/>
              <a:endCxn id="92" idx="0"/>
            </p:cNvCxnSpPr>
            <p:nvPr/>
          </p:nvCxnSpPr>
          <p:spPr>
            <a:xfrm rot="5400000">
              <a:off x="4918052" y="3015793"/>
              <a:ext cx="230174" cy="255896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Łącznik prosty ze strzałką 107">
              <a:extLst>
                <a:ext uri="{FF2B5EF4-FFF2-40B4-BE49-F238E27FC236}">
                  <a16:creationId xmlns:a16="http://schemas.microsoft.com/office/drawing/2014/main" id="{2FD8EFB4-D263-CC07-49EC-CB6B6B29D00E}"/>
                </a:ext>
              </a:extLst>
            </p:cNvPr>
            <p:cNvCxnSpPr>
              <a:cxnSpLocks/>
              <a:stCxn id="92" idx="4"/>
              <a:endCxn id="93" idx="0"/>
            </p:cNvCxnSpPr>
            <p:nvPr/>
          </p:nvCxnSpPr>
          <p:spPr>
            <a:xfrm flipH="1">
              <a:off x="3753657" y="4679303"/>
              <a:ext cx="1" cy="2301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ównoległobok 117">
              <a:extLst>
                <a:ext uri="{FF2B5EF4-FFF2-40B4-BE49-F238E27FC236}">
                  <a16:creationId xmlns:a16="http://schemas.microsoft.com/office/drawing/2014/main" id="{EF0E1D94-9EB9-BCCC-2EAB-4C9E84CD9239}"/>
                </a:ext>
              </a:extLst>
            </p:cNvPr>
            <p:cNvSpPr/>
            <p:nvPr/>
          </p:nvSpPr>
          <p:spPr>
            <a:xfrm>
              <a:off x="3269205" y="5960474"/>
              <a:ext cx="888949" cy="268943"/>
            </a:xfrm>
            <a:prstGeom prst="parallelogram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000" noProof="1"/>
                <a:t>Output</a:t>
              </a:r>
            </a:p>
          </p:txBody>
        </p:sp>
        <p:cxnSp>
          <p:nvCxnSpPr>
            <p:cNvPr id="122" name="Łącznik prosty ze strzałką 121">
              <a:extLst>
                <a:ext uri="{FF2B5EF4-FFF2-40B4-BE49-F238E27FC236}">
                  <a16:creationId xmlns:a16="http://schemas.microsoft.com/office/drawing/2014/main" id="{2AB4DD82-F9BC-25CC-B155-421B4DA8B252}"/>
                </a:ext>
              </a:extLst>
            </p:cNvPr>
            <p:cNvCxnSpPr>
              <a:cxnSpLocks/>
              <a:stCxn id="95" idx="2"/>
              <a:endCxn id="118" idx="1"/>
            </p:cNvCxnSpPr>
            <p:nvPr/>
          </p:nvCxnSpPr>
          <p:spPr>
            <a:xfrm flipH="1">
              <a:off x="3747297" y="5730302"/>
              <a:ext cx="2879" cy="2301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239085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73</Words>
  <Application>Microsoft Office PowerPoint</Application>
  <PresentationFormat>Panoramiczny</PresentationFormat>
  <Paragraphs>40</Paragraphs>
  <Slides>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Wdowińska</dc:creator>
  <cp:lastModifiedBy>Julia Wdowińska</cp:lastModifiedBy>
  <cp:revision>3</cp:revision>
  <dcterms:created xsi:type="dcterms:W3CDTF">2025-10-24T12:30:50Z</dcterms:created>
  <dcterms:modified xsi:type="dcterms:W3CDTF">2025-10-24T12:54:24Z</dcterms:modified>
</cp:coreProperties>
</file>